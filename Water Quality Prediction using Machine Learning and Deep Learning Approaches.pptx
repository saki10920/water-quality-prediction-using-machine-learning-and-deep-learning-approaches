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80" r:id="rId6"/>
    <p:sldId id="264" r:id="rId7"/>
    <p:sldId id="261" r:id="rId8"/>
    <p:sldId id="266" r:id="rId9"/>
    <p:sldId id="267" r:id="rId10"/>
    <p:sldId id="282" r:id="rId11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Fira Sans Extra Condensed Medium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verpass Black" panose="020B0604020202020204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herin khan mili" initials="mkm" lastIdx="1" clrIdx="0">
    <p:extLst>
      <p:ext uri="{19B8F6BF-5375-455C-9EA6-DF929625EA0E}">
        <p15:presenceInfo xmlns:p15="http://schemas.microsoft.com/office/powerpoint/2012/main" userId="71d1d71f529238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39AFA6-1050-4E2E-A32C-C61E61ED3B3E}">
  <a:tblStyle styleId="{FE39AFA6-1050-4E2E-A32C-C61E61ED3B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182" y="-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40AE84-E6F7-4F2E-AA7D-183F1C8E3B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0CA34-EFC6-4CBC-BE64-959C0ECA2D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003BA-E611-4897-BA3D-5CAAEA7FD41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EA524-FF4E-40E7-8554-93F5D97635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A052F-356F-4AF4-A1D2-92D7EC75B2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1EB7F-F84A-4E47-B533-E9970EA99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452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a7274a182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a7274a182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a7274a1822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a7274a1822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a7274a1822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6" name="Google Shape;2176;ga7274a1822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ga75a9251e8_1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2" name="Google Shape;2712;ga75a9251e8_1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a7274a1822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a7274a1822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a8768f938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a8768f9383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a7274a1822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a7274a1822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ga9b21f1572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1" name="Google Shape;2801;ga9b21f1572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6500" y="1130675"/>
            <a:ext cx="6291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220225"/>
            <a:ext cx="770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1328945" y="-932567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 rot="2440329">
            <a:off x="6865875" y="-711275"/>
            <a:ext cx="3592175" cy="302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5400000" flipH="1">
            <a:off x="-1871711" y="-356575"/>
            <a:ext cx="2894875" cy="2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889245" y="3430558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 rot="10670981">
            <a:off x="6959826" y="3022524"/>
            <a:ext cx="3632875" cy="2999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2700000">
            <a:off x="381980" y="2801012"/>
            <a:ext cx="1344349" cy="2469678"/>
            <a:chOff x="272875" y="1419395"/>
            <a:chExt cx="255950" cy="563168"/>
          </a:xfrm>
        </p:grpSpPr>
        <p:sp>
          <p:nvSpPr>
            <p:cNvPr id="17" name="Google Shape;17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 rot="-2700000">
            <a:off x="7112113" y="-364316"/>
            <a:ext cx="1344349" cy="1995327"/>
            <a:chOff x="272875" y="1527563"/>
            <a:chExt cx="255950" cy="455000"/>
          </a:xfrm>
        </p:grpSpPr>
        <p:sp>
          <p:nvSpPr>
            <p:cNvPr id="53" name="Google Shape;53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2"/>
          <p:cNvSpPr/>
          <p:nvPr/>
        </p:nvSpPr>
        <p:spPr>
          <a:xfrm rot="10800000">
            <a:off x="4793599" y="4568874"/>
            <a:ext cx="2265082" cy="2165834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345175" y="3258079"/>
            <a:ext cx="8158656" cy="30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4379243" y="-2465274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3"/>
          <p:cNvGrpSpPr/>
          <p:nvPr/>
        </p:nvGrpSpPr>
        <p:grpSpPr>
          <a:xfrm rot="-2700000">
            <a:off x="473130" y="2695837"/>
            <a:ext cx="1344349" cy="2469678"/>
            <a:chOff x="272875" y="1419395"/>
            <a:chExt cx="255950" cy="563168"/>
          </a:xfrm>
        </p:grpSpPr>
        <p:sp>
          <p:nvSpPr>
            <p:cNvPr id="94" name="Google Shape;94;p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30" name="Google Shape;130;p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3"/>
          <p:cNvSpPr txBox="1">
            <a:spLocks noGrp="1"/>
          </p:cNvSpPr>
          <p:nvPr>
            <p:ph type="subTitle" idx="1"/>
          </p:nvPr>
        </p:nvSpPr>
        <p:spPr>
          <a:xfrm>
            <a:off x="2646000" y="3114137"/>
            <a:ext cx="38520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"/>
          <p:cNvSpPr txBox="1">
            <a:spLocks noGrp="1"/>
          </p:cNvSpPr>
          <p:nvPr>
            <p:ph type="ctrTitle"/>
          </p:nvPr>
        </p:nvSpPr>
        <p:spPr>
          <a:xfrm>
            <a:off x="2646000" y="259423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1C458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3"/>
          <p:cNvSpPr txBox="1">
            <a:spLocks noGrp="1"/>
          </p:cNvSpPr>
          <p:nvPr>
            <p:ph type="title" idx="2" hasCustomPrompt="1"/>
          </p:nvPr>
        </p:nvSpPr>
        <p:spPr>
          <a:xfrm>
            <a:off x="2646000" y="894175"/>
            <a:ext cx="3852000" cy="203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5000">
                <a:solidFill>
                  <a:srgbClr val="1C458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8"/>
          <p:cNvPicPr preferRelativeResize="0"/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 rot="-10162003" flipH="1">
            <a:off x="301118" y="56641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8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10800000" flipH="1">
            <a:off x="2309117" y="4"/>
            <a:ext cx="61148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8"/>
          <p:cNvPicPr preferRelativeResize="0"/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 rot="-8962532">
            <a:off x="7553885" y="2352524"/>
            <a:ext cx="1462806" cy="350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8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8"/>
          <p:cNvSpPr/>
          <p:nvPr/>
        </p:nvSpPr>
        <p:spPr>
          <a:xfrm rot="-6681487">
            <a:off x="8044372" y="2590906"/>
            <a:ext cx="2265023" cy="2165778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" name="Google Shape;465;p8"/>
          <p:cNvGrpSpPr/>
          <p:nvPr/>
        </p:nvGrpSpPr>
        <p:grpSpPr>
          <a:xfrm rot="8100046">
            <a:off x="-12030" y="3450661"/>
            <a:ext cx="1344367" cy="1995327"/>
            <a:chOff x="272875" y="1527563"/>
            <a:chExt cx="255950" cy="455000"/>
          </a:xfrm>
        </p:grpSpPr>
        <p:sp>
          <p:nvSpPr>
            <p:cNvPr id="466" name="Google Shape;466;p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8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502" name="Google Shape;502;p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7" name="Google Shape;537;p8"/>
          <p:cNvPicPr preferRelativeResize="0"/>
          <p:nvPr/>
        </p:nvPicPr>
        <p:blipFill>
          <a:blip r:embed="rId6">
            <a:alphaModFix amt="62000"/>
          </a:blip>
          <a:stretch>
            <a:fillRect/>
          </a:stretch>
        </p:blipFill>
        <p:spPr>
          <a:xfrm rot="5400000">
            <a:off x="1054424" y="-334421"/>
            <a:ext cx="44746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9" name="Google Shape;539;p8"/>
          <p:cNvSpPr/>
          <p:nvPr/>
        </p:nvSpPr>
        <p:spPr>
          <a:xfrm rot="231922" flipH="1">
            <a:off x="-1189243" y="-3465582"/>
            <a:ext cx="4623938" cy="7256951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"/>
          <p:cNvSpPr txBox="1">
            <a:spLocks noGrp="1"/>
          </p:cNvSpPr>
          <p:nvPr>
            <p:ph type="subTitle" idx="1"/>
          </p:nvPr>
        </p:nvSpPr>
        <p:spPr>
          <a:xfrm flipH="1">
            <a:off x="5047900" y="2607067"/>
            <a:ext cx="3367800" cy="10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"/>
          <p:cNvSpPr txBox="1">
            <a:spLocks noGrp="1"/>
          </p:cNvSpPr>
          <p:nvPr>
            <p:ph type="ctrTitle"/>
          </p:nvPr>
        </p:nvSpPr>
        <p:spPr>
          <a:xfrm flipH="1">
            <a:off x="4571900" y="1697799"/>
            <a:ext cx="38604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43" name="Google Shape;543;p9"/>
          <p:cNvPicPr preferRelativeResize="0"/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6498000" y="3581373"/>
            <a:ext cx="3440400" cy="2840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"/>
          <p:cNvSpPr/>
          <p:nvPr/>
        </p:nvSpPr>
        <p:spPr>
          <a:xfrm rot="-2569776">
            <a:off x="7774946" y="-1017900"/>
            <a:ext cx="2265043" cy="216579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9"/>
          <p:cNvGrpSpPr/>
          <p:nvPr/>
        </p:nvGrpSpPr>
        <p:grpSpPr>
          <a:xfrm rot="-6629356">
            <a:off x="7495291" y="3526103"/>
            <a:ext cx="1344346" cy="2469672"/>
            <a:chOff x="272875" y="1419395"/>
            <a:chExt cx="255950" cy="563168"/>
          </a:xfrm>
        </p:grpSpPr>
        <p:sp>
          <p:nvSpPr>
            <p:cNvPr id="546" name="Google Shape;546;p9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1" name="Google Shape;581;p9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 rot="-5400005">
            <a:off x="-1096437" y="-959501"/>
            <a:ext cx="3632875" cy="299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1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8456486" flipH="1">
            <a:off x="4213816" y="1684455"/>
            <a:ext cx="3297389" cy="2276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11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2079893" y="1275092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11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9663874">
            <a:off x="-831963" y="211855"/>
            <a:ext cx="9577978" cy="356681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9" name="Google Shape;589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90" name="Google Shape;590;p11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8456486" flipH="1">
            <a:off x="7252441" y="4177105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1" name="Google Shape;591;p11"/>
          <p:cNvGrpSpPr/>
          <p:nvPr/>
        </p:nvGrpSpPr>
        <p:grpSpPr>
          <a:xfrm rot="2700046">
            <a:off x="8023488" y="3760130"/>
            <a:ext cx="1344367" cy="1995327"/>
            <a:chOff x="272875" y="1527563"/>
            <a:chExt cx="255950" cy="455000"/>
          </a:xfrm>
        </p:grpSpPr>
        <p:sp>
          <p:nvSpPr>
            <p:cNvPr id="592" name="Google Shape;592;p1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27" name="Google Shape;627;p11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9663874">
            <a:off x="-3354179" y="-1777728"/>
            <a:ext cx="7605805" cy="283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11"/>
          <p:cNvGrpSpPr/>
          <p:nvPr/>
        </p:nvGrpSpPr>
        <p:grpSpPr>
          <a:xfrm rot="-7181356">
            <a:off x="474922" y="-1462434"/>
            <a:ext cx="1344356" cy="2469645"/>
            <a:chOff x="272875" y="1419395"/>
            <a:chExt cx="255950" cy="563168"/>
          </a:xfrm>
        </p:grpSpPr>
        <p:sp>
          <p:nvSpPr>
            <p:cNvPr id="629" name="Google Shape;629;p1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11"/>
          <p:cNvSpPr/>
          <p:nvPr/>
        </p:nvSpPr>
        <p:spPr>
          <a:xfrm rot="3011561">
            <a:off x="7155837" y="4854310"/>
            <a:ext cx="1345837" cy="128686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1"/>
          <p:cNvSpPr/>
          <p:nvPr/>
        </p:nvSpPr>
        <p:spPr>
          <a:xfrm rot="-9900083">
            <a:off x="-1242749" y="2125430"/>
            <a:ext cx="3386946" cy="5315794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1538275" flipH="1">
            <a:off x="-1241959" y="-985041"/>
            <a:ext cx="3297390" cy="227663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/>
          <p:nvPr/>
        </p:nvSpPr>
        <p:spPr>
          <a:xfrm rot="3011561">
            <a:off x="8474812" y="4330185"/>
            <a:ext cx="1345837" cy="128686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13"/>
          <p:cNvGrpSpPr/>
          <p:nvPr/>
        </p:nvGrpSpPr>
        <p:grpSpPr>
          <a:xfrm rot="3559955">
            <a:off x="-42012" y="-631342"/>
            <a:ext cx="1344348" cy="1995332"/>
            <a:chOff x="272875" y="1527563"/>
            <a:chExt cx="255950" cy="455000"/>
          </a:xfrm>
        </p:grpSpPr>
        <p:sp>
          <p:nvSpPr>
            <p:cNvPr id="671" name="Google Shape;671;p1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06" name="Google Shape;706;p1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024386">
            <a:off x="7156213" y="-1143378"/>
            <a:ext cx="2894879" cy="259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13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-7120613" flipH="1">
            <a:off x="5305666" y="-1758350"/>
            <a:ext cx="2894876" cy="2593327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3"/>
          <p:cNvSpPr txBox="1">
            <a:spLocks noGrp="1"/>
          </p:cNvSpPr>
          <p:nvPr>
            <p:ph type="title" hasCustomPrompt="1"/>
          </p:nvPr>
        </p:nvSpPr>
        <p:spPr>
          <a:xfrm>
            <a:off x="3170031" y="34174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2" hasCustomPrompt="1"/>
          </p:nvPr>
        </p:nvSpPr>
        <p:spPr>
          <a:xfrm>
            <a:off x="5686543" y="34174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3" hasCustomPrompt="1"/>
          </p:nvPr>
        </p:nvSpPr>
        <p:spPr>
          <a:xfrm>
            <a:off x="5697526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4" hasCustomPrompt="1"/>
          </p:nvPr>
        </p:nvSpPr>
        <p:spPr>
          <a:xfrm>
            <a:off x="637282" y="34442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5" hasCustomPrompt="1"/>
          </p:nvPr>
        </p:nvSpPr>
        <p:spPr>
          <a:xfrm>
            <a:off x="637282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6" hasCustomPrompt="1"/>
          </p:nvPr>
        </p:nvSpPr>
        <p:spPr>
          <a:xfrm>
            <a:off x="3170031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13"/>
          <p:cNvSpPr txBox="1">
            <a:spLocks noGrp="1"/>
          </p:cNvSpPr>
          <p:nvPr>
            <p:ph type="ctrTitle" idx="7"/>
          </p:nvPr>
        </p:nvSpPr>
        <p:spPr>
          <a:xfrm>
            <a:off x="4160248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"/>
          </p:nvPr>
        </p:nvSpPr>
        <p:spPr>
          <a:xfrm>
            <a:off x="4160247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ctrTitle" idx="8"/>
          </p:nvPr>
        </p:nvSpPr>
        <p:spPr>
          <a:xfrm>
            <a:off x="6688381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7" name="Google Shape;717;p13"/>
          <p:cNvSpPr txBox="1">
            <a:spLocks noGrp="1"/>
          </p:cNvSpPr>
          <p:nvPr>
            <p:ph type="subTitle" idx="9"/>
          </p:nvPr>
        </p:nvSpPr>
        <p:spPr>
          <a:xfrm>
            <a:off x="6688378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13"/>
          <p:cNvSpPr/>
          <p:nvPr/>
        </p:nvSpPr>
        <p:spPr>
          <a:xfrm>
            <a:off x="1150175" y="2700900"/>
            <a:ext cx="2525" cy="25"/>
          </a:xfrm>
          <a:custGeom>
            <a:avLst/>
            <a:gdLst/>
            <a:ahLst/>
            <a:cxnLst/>
            <a:rect l="l" t="t" r="r" b="b"/>
            <a:pathLst>
              <a:path w="101" h="1" extrusionOk="0">
                <a:moveTo>
                  <a:pt x="101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CEF2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719" name="Google Shape;719;p13"/>
          <p:cNvSpPr txBox="1">
            <a:spLocks noGrp="1"/>
          </p:cNvSpPr>
          <p:nvPr>
            <p:ph type="ctrTitle" idx="13"/>
          </p:nvPr>
        </p:nvSpPr>
        <p:spPr>
          <a:xfrm>
            <a:off x="6688650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20" name="Google Shape;720;p13"/>
          <p:cNvSpPr txBox="1">
            <a:spLocks noGrp="1"/>
          </p:cNvSpPr>
          <p:nvPr>
            <p:ph type="subTitle" idx="14"/>
          </p:nvPr>
        </p:nvSpPr>
        <p:spPr>
          <a:xfrm>
            <a:off x="6688665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13"/>
          <p:cNvSpPr txBox="1">
            <a:spLocks noGrp="1"/>
          </p:cNvSpPr>
          <p:nvPr>
            <p:ph type="ctrTitle" idx="15"/>
          </p:nvPr>
        </p:nvSpPr>
        <p:spPr>
          <a:xfrm>
            <a:off x="1622668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22" name="Google Shape;722;p13"/>
          <p:cNvSpPr txBox="1">
            <a:spLocks noGrp="1"/>
          </p:cNvSpPr>
          <p:nvPr>
            <p:ph type="subTitle" idx="16"/>
          </p:nvPr>
        </p:nvSpPr>
        <p:spPr>
          <a:xfrm>
            <a:off x="1622669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13"/>
          <p:cNvSpPr txBox="1">
            <a:spLocks noGrp="1"/>
          </p:cNvSpPr>
          <p:nvPr>
            <p:ph type="ctrTitle" idx="17"/>
          </p:nvPr>
        </p:nvSpPr>
        <p:spPr>
          <a:xfrm>
            <a:off x="1622668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24" name="Google Shape;724;p13"/>
          <p:cNvSpPr txBox="1">
            <a:spLocks noGrp="1"/>
          </p:cNvSpPr>
          <p:nvPr>
            <p:ph type="subTitle" idx="18"/>
          </p:nvPr>
        </p:nvSpPr>
        <p:spPr>
          <a:xfrm>
            <a:off x="1622669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3"/>
          <p:cNvSpPr txBox="1">
            <a:spLocks noGrp="1"/>
          </p:cNvSpPr>
          <p:nvPr>
            <p:ph type="ctrTitle" idx="19"/>
          </p:nvPr>
        </p:nvSpPr>
        <p:spPr>
          <a:xfrm>
            <a:off x="4160243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26" name="Google Shape;726;p13"/>
          <p:cNvSpPr txBox="1">
            <a:spLocks noGrp="1"/>
          </p:cNvSpPr>
          <p:nvPr>
            <p:ph type="subTitle" idx="20"/>
          </p:nvPr>
        </p:nvSpPr>
        <p:spPr>
          <a:xfrm>
            <a:off x="4160258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3"/>
          <p:cNvSpPr txBox="1">
            <a:spLocks noGrp="1"/>
          </p:cNvSpPr>
          <p:nvPr>
            <p:ph type="ctrTitle" idx="21"/>
          </p:nvPr>
        </p:nvSpPr>
        <p:spPr>
          <a:xfrm>
            <a:off x="720000" y="342524"/>
            <a:ext cx="7704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14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0" name="Google Shape;730;p14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731" name="Google Shape;731;p1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66" name="Google Shape;766;p14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14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14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4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18"/>
          <p:cNvGrpSpPr/>
          <p:nvPr/>
        </p:nvGrpSpPr>
        <p:grpSpPr>
          <a:xfrm>
            <a:off x="-1680776" y="-4224695"/>
            <a:ext cx="16179801" cy="13950337"/>
            <a:chOff x="-1680776" y="-4224695"/>
            <a:chExt cx="16179801" cy="13950337"/>
          </a:xfrm>
        </p:grpSpPr>
        <p:pic>
          <p:nvPicPr>
            <p:cNvPr id="968" name="Google Shape;96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3224823">
              <a:off x="-140037" y="3490385"/>
              <a:ext cx="5882028" cy="485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18"/>
            <p:cNvPicPr preferRelativeResize="0"/>
            <p:nvPr/>
          </p:nvPicPr>
          <p:blipFill>
            <a:blip r:embed="rId3">
              <a:alphaModFix amt="56000"/>
            </a:blip>
            <a:stretch>
              <a:fillRect/>
            </a:stretch>
          </p:blipFill>
          <p:spPr>
            <a:xfrm rot="10800000" flipH="1">
              <a:off x="7048980" y="-1210521"/>
              <a:ext cx="6114874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18"/>
            <p:cNvPicPr preferRelativeResize="0"/>
            <p:nvPr/>
          </p:nvPicPr>
          <p:blipFill>
            <a:blip r:embed="rId4">
              <a:alphaModFix amt="52000"/>
            </a:blip>
            <a:stretch>
              <a:fillRect/>
            </a:stretch>
          </p:blipFill>
          <p:spPr>
            <a:xfrm rot="5400000">
              <a:off x="5834261" y="-3262046"/>
              <a:ext cx="4474637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18"/>
            <p:cNvPicPr preferRelativeResize="0"/>
            <p:nvPr/>
          </p:nvPicPr>
          <p:blipFill>
            <a:blip r:embed="rId5">
              <a:alphaModFix amt="47000"/>
            </a:blip>
            <a:stretch>
              <a:fillRect/>
            </a:stretch>
          </p:blipFill>
          <p:spPr>
            <a:xfrm rot="-1342742">
              <a:off x="-977911" y="-3287812"/>
              <a:ext cx="5882021" cy="4855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18"/>
            <p:cNvPicPr preferRelativeResize="0"/>
            <p:nvPr/>
          </p:nvPicPr>
          <p:blipFill>
            <a:blip r:embed="rId6">
              <a:alphaModFix amt="58000"/>
            </a:blip>
            <a:stretch>
              <a:fillRect/>
            </a:stretch>
          </p:blipFill>
          <p:spPr>
            <a:xfrm rot="10599510">
              <a:off x="-546556" y="1325195"/>
              <a:ext cx="1787179" cy="4287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18"/>
            <p:cNvPicPr preferRelativeResize="0"/>
            <p:nvPr/>
          </p:nvPicPr>
          <p:blipFill>
            <a:blip r:embed="rId7">
              <a:alphaModFix amt="45000"/>
            </a:blip>
            <a:stretch>
              <a:fillRect/>
            </a:stretch>
          </p:blipFill>
          <p:spPr>
            <a:xfrm rot="380280">
              <a:off x="6197600" y="3797979"/>
              <a:ext cx="8158655" cy="3038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4" name="Google Shape;974;p18"/>
          <p:cNvSpPr txBox="1">
            <a:spLocks noGrp="1"/>
          </p:cNvSpPr>
          <p:nvPr>
            <p:ph type="title"/>
          </p:nvPr>
        </p:nvSpPr>
        <p:spPr>
          <a:xfrm>
            <a:off x="2290050" y="3076083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75" name="Google Shape;975;p18"/>
          <p:cNvSpPr txBox="1">
            <a:spLocks noGrp="1"/>
          </p:cNvSpPr>
          <p:nvPr>
            <p:ph type="subTitle" idx="1"/>
          </p:nvPr>
        </p:nvSpPr>
        <p:spPr>
          <a:xfrm>
            <a:off x="1605150" y="1547033"/>
            <a:ext cx="5933700" cy="18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6" name="Google Shape;976;p18"/>
          <p:cNvGrpSpPr/>
          <p:nvPr/>
        </p:nvGrpSpPr>
        <p:grpSpPr>
          <a:xfrm rot="5400065">
            <a:off x="8667137" y="-1129839"/>
            <a:ext cx="1344377" cy="1995312"/>
            <a:chOff x="272875" y="1527563"/>
            <a:chExt cx="255950" cy="455000"/>
          </a:xfrm>
        </p:grpSpPr>
        <p:sp>
          <p:nvSpPr>
            <p:cNvPr id="977" name="Google Shape;977;p1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18"/>
          <p:cNvSpPr/>
          <p:nvPr/>
        </p:nvSpPr>
        <p:spPr>
          <a:xfrm rot="-7373435">
            <a:off x="-1518218" y="3027895"/>
            <a:ext cx="2265005" cy="216576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1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5"/>
          <p:cNvSpPr txBox="1">
            <a:spLocks noGrp="1"/>
          </p:cNvSpPr>
          <p:nvPr>
            <p:ph type="subTitle" idx="1"/>
          </p:nvPr>
        </p:nvSpPr>
        <p:spPr>
          <a:xfrm>
            <a:off x="671450" y="2555700"/>
            <a:ext cx="3566700" cy="11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5" name="Google Shape;1495;p25"/>
          <p:cNvSpPr txBox="1">
            <a:spLocks noGrp="1"/>
          </p:cNvSpPr>
          <p:nvPr>
            <p:ph type="ctrTitle"/>
          </p:nvPr>
        </p:nvSpPr>
        <p:spPr>
          <a:xfrm>
            <a:off x="671450" y="1875052"/>
            <a:ext cx="2604300" cy="5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496" name="Google Shape;1496;p25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 rot="5400000">
            <a:off x="6963311" y="-630813"/>
            <a:ext cx="3592176" cy="30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25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326165" flipH="1">
            <a:off x="-191445" y="4128883"/>
            <a:ext cx="3297389" cy="227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8" name="Google Shape;1498;p25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499" name="Google Shape;1499;p2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4" name="Google Shape;1534;p25"/>
          <p:cNvSpPr/>
          <p:nvPr/>
        </p:nvSpPr>
        <p:spPr>
          <a:xfrm>
            <a:off x="4566955" y="-2521549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5" name="Google Shape;1535;p25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7675040">
            <a:off x="2669916" y="-1516164"/>
            <a:ext cx="2894877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25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-9631575" flipH="1">
            <a:off x="-1503235" y="-1230424"/>
            <a:ext cx="2894874" cy="2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6"/>
          <p:cNvSpPr txBox="1">
            <a:spLocks noGrp="1"/>
          </p:cNvSpPr>
          <p:nvPr>
            <p:ph type="subTitle" idx="1"/>
          </p:nvPr>
        </p:nvSpPr>
        <p:spPr>
          <a:xfrm>
            <a:off x="544025" y="3120381"/>
            <a:ext cx="2286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1539" name="Google Shape;1539;p26"/>
          <p:cNvSpPr txBox="1">
            <a:spLocks noGrp="1"/>
          </p:cNvSpPr>
          <p:nvPr>
            <p:ph type="subTitle" idx="2"/>
          </p:nvPr>
        </p:nvSpPr>
        <p:spPr>
          <a:xfrm>
            <a:off x="544025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40" name="Google Shape;1540;p26"/>
          <p:cNvSpPr txBox="1">
            <a:spLocks noGrp="1"/>
          </p:cNvSpPr>
          <p:nvPr>
            <p:ph type="subTitle" idx="3"/>
          </p:nvPr>
        </p:nvSpPr>
        <p:spPr>
          <a:xfrm>
            <a:off x="3147280" y="3120381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1541" name="Google Shape;1541;p26"/>
          <p:cNvSpPr txBox="1">
            <a:spLocks noGrp="1"/>
          </p:cNvSpPr>
          <p:nvPr>
            <p:ph type="subTitle" idx="4"/>
          </p:nvPr>
        </p:nvSpPr>
        <p:spPr>
          <a:xfrm>
            <a:off x="3238030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42" name="Google Shape;1542;p26"/>
          <p:cNvSpPr txBox="1">
            <a:spLocks noGrp="1"/>
          </p:cNvSpPr>
          <p:nvPr>
            <p:ph type="subTitle" idx="5"/>
          </p:nvPr>
        </p:nvSpPr>
        <p:spPr>
          <a:xfrm>
            <a:off x="5784651" y="3120381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1543" name="Google Shape;1543;p26"/>
          <p:cNvSpPr txBox="1">
            <a:spLocks noGrp="1"/>
          </p:cNvSpPr>
          <p:nvPr>
            <p:ph type="subTitle" idx="6"/>
          </p:nvPr>
        </p:nvSpPr>
        <p:spPr>
          <a:xfrm>
            <a:off x="5875400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44" name="Google Shape;1544;p26"/>
          <p:cNvSpPr txBox="1">
            <a:spLocks noGrp="1"/>
          </p:cNvSpPr>
          <p:nvPr>
            <p:ph type="title" hasCustomPrompt="1"/>
          </p:nvPr>
        </p:nvSpPr>
        <p:spPr>
          <a:xfrm>
            <a:off x="3450130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45" name="Google Shape;1545;p26"/>
          <p:cNvSpPr txBox="1">
            <a:spLocks noGrp="1"/>
          </p:cNvSpPr>
          <p:nvPr>
            <p:ph type="title" idx="7" hasCustomPrompt="1"/>
          </p:nvPr>
        </p:nvSpPr>
        <p:spPr>
          <a:xfrm>
            <a:off x="6087501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46" name="Google Shape;1546;p26"/>
          <p:cNvSpPr txBox="1">
            <a:spLocks noGrp="1"/>
          </p:cNvSpPr>
          <p:nvPr>
            <p:ph type="title" idx="8" hasCustomPrompt="1"/>
          </p:nvPr>
        </p:nvSpPr>
        <p:spPr>
          <a:xfrm>
            <a:off x="756125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547" name="Google Shape;1547;p26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641553" y="-1719908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8" name="Google Shape;1548;p26"/>
          <p:cNvGrpSpPr/>
          <p:nvPr/>
        </p:nvGrpSpPr>
        <p:grpSpPr>
          <a:xfrm rot="-8099954">
            <a:off x="-459577" y="-1021623"/>
            <a:ext cx="1344367" cy="1995327"/>
            <a:chOff x="272875" y="1527563"/>
            <a:chExt cx="255950" cy="455000"/>
          </a:xfrm>
        </p:grpSpPr>
        <p:sp>
          <p:nvSpPr>
            <p:cNvPr id="1549" name="Google Shape;1549;p2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84" name="Google Shape;1584;p26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4990199" flipH="1">
            <a:off x="-1127360" y="4108621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26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4990199" flipH="1">
            <a:off x="7307615" y="-922016"/>
            <a:ext cx="2894870" cy="2593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26"/>
          <p:cNvSpPr txBox="1">
            <a:spLocks noGrp="1"/>
          </p:cNvSpPr>
          <p:nvPr>
            <p:ph type="ctrTitle" idx="9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87" name="Google Shape;1587;p26"/>
          <p:cNvSpPr/>
          <p:nvPr/>
        </p:nvSpPr>
        <p:spPr>
          <a:xfrm rot="-2136675">
            <a:off x="7291512" y="4066884"/>
            <a:ext cx="2264977" cy="2165734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Google Shape;1840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1248590" y="25322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-1738310" y="40818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31"/>
          <p:cNvPicPr preferRelativeResize="0"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 rot="2453973">
            <a:off x="6716115" y="-248136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31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10800000"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4" name="Google Shape;1844;p31"/>
          <p:cNvGrpSpPr/>
          <p:nvPr/>
        </p:nvGrpSpPr>
        <p:grpSpPr>
          <a:xfrm rot="-2700000">
            <a:off x="167955" y="3080962"/>
            <a:ext cx="1344349" cy="2469678"/>
            <a:chOff x="272875" y="1419395"/>
            <a:chExt cx="255950" cy="563168"/>
          </a:xfrm>
        </p:grpSpPr>
        <p:sp>
          <p:nvSpPr>
            <p:cNvPr id="1845" name="Google Shape;1845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1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1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1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1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1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1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oogle Shape;1880;p31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881" name="Google Shape;1881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6" name="Google Shape;1916;p31"/>
          <p:cNvSpPr/>
          <p:nvPr/>
        </p:nvSpPr>
        <p:spPr>
          <a:xfrm>
            <a:off x="5570568" y="-2413037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8" name="Google Shape;1918;p3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9" name="Google Shape;1919;p32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920" name="Google Shape;1920;p3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55" name="Google Shape;1955;p3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32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2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_1_1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3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0" name="Google Shape;1960;p33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1961" name="Google Shape;1961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96" name="Google Shape;1996;p3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33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8" name="Google Shape;1998;p33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1999" name="Google Shape;1999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_1_1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34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 rot="5400000">
            <a:off x="6963311" y="-630813"/>
            <a:ext cx="3592176" cy="30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34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326165" flipH="1">
            <a:off x="-191445" y="4128883"/>
            <a:ext cx="3297389" cy="227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7" name="Google Shape;2037;p34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2038" name="Google Shape;2038;p3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3" name="Google Shape;2073;p34"/>
          <p:cNvSpPr/>
          <p:nvPr/>
        </p:nvSpPr>
        <p:spPr>
          <a:xfrm>
            <a:off x="4566955" y="-2521549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4" name="Google Shape;2074;p34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7675040">
            <a:off x="2669916" y="-1516164"/>
            <a:ext cx="2894877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34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-9631575" flipH="1">
            <a:off x="-1503235" y="-1230424"/>
            <a:ext cx="2894874" cy="2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4_1_1_2"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7" name="Google Shape;2077;p35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8" name="Google Shape;2078;p35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2079" name="Google Shape;2079;p3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14" name="Google Shape;2114;p35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35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35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4" r:id="rId9"/>
    <p:sldLayoutId id="2147483671" r:id="rId10"/>
    <p:sldLayoutId id="2147483672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5" name="Google Shape;2125;p38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9461196">
            <a:off x="1917996" y="2388117"/>
            <a:ext cx="2894873" cy="25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38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1377427">
            <a:off x="6434914" y="2244769"/>
            <a:ext cx="2894876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38"/>
          <p:cNvPicPr preferRelativeResize="0"/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>
            <a:off x="909114" y="2716771"/>
            <a:ext cx="7704000" cy="207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38"/>
          <p:cNvSpPr txBox="1">
            <a:spLocks noGrp="1"/>
          </p:cNvSpPr>
          <p:nvPr>
            <p:ph type="ctrTitle"/>
          </p:nvPr>
        </p:nvSpPr>
        <p:spPr>
          <a:xfrm>
            <a:off x="51724" y="290924"/>
            <a:ext cx="8541447" cy="1305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Project Title : </a:t>
            </a:r>
            <a:r>
              <a:rPr lang="en-US" sz="3200" b="1" i="1" dirty="0">
                <a:latin typeface="Cambria" panose="02040503050406030204" pitchFamily="18" charset="0"/>
                <a:ea typeface="Cambria" panose="02040503050406030204" pitchFamily="18" charset="0"/>
              </a:rPr>
              <a:t>Water Quality Prediction using Machine Learning and Deep Learning Approaches </a:t>
            </a:r>
            <a:endParaRPr sz="32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29" name="Google Shape;2129;p38"/>
          <p:cNvSpPr txBox="1">
            <a:spLocks noGrp="1"/>
          </p:cNvSpPr>
          <p:nvPr>
            <p:ph type="subTitle" idx="1"/>
          </p:nvPr>
        </p:nvSpPr>
        <p:spPr>
          <a:xfrm>
            <a:off x="482150" y="2780198"/>
            <a:ext cx="7704000" cy="1437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Submitted By,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Name : Suria </a:t>
            </a:r>
            <a:r>
              <a:rPr lang="en-US" b="1" dirty="0" err="1"/>
              <a:t>Sarmin</a:t>
            </a:r>
            <a:r>
              <a:rPr lang="en-US" b="1" dirty="0"/>
              <a:t> </a:t>
            </a:r>
            <a:r>
              <a:rPr lang="en-US" b="1" dirty="0" err="1"/>
              <a:t>Tripty</a:t>
            </a:r>
            <a:r>
              <a:rPr lang="en-US" b="1" dirty="0"/>
              <a:t>           ID:20210204005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Name: </a:t>
            </a:r>
            <a:r>
              <a:rPr lang="en-US" b="1" dirty="0" err="1"/>
              <a:t>Masudur</a:t>
            </a:r>
            <a:r>
              <a:rPr lang="en-US" b="1" dirty="0"/>
              <a:t> Rahman Saki      ID:20210204009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 Name : Meherin Khan Mili             ID: 20210204020</a:t>
            </a:r>
            <a:endParaRPr b="1" dirty="0"/>
          </a:p>
        </p:txBody>
      </p:sp>
      <p:sp>
        <p:nvSpPr>
          <p:cNvPr id="2130" name="Google Shape;2130;p38"/>
          <p:cNvSpPr/>
          <p:nvPr/>
        </p:nvSpPr>
        <p:spPr>
          <a:xfrm>
            <a:off x="-3657600" y="7305175"/>
            <a:ext cx="792600" cy="792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1A52C-89D2-4A85-87AC-985C828251CE}"/>
              </a:ext>
            </a:extLst>
          </p:cNvPr>
          <p:cNvSpPr txBox="1"/>
          <p:nvPr/>
        </p:nvSpPr>
        <p:spPr>
          <a:xfrm>
            <a:off x="3365432" y="1819200"/>
            <a:ext cx="214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Group No : 06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EA76-C1E0-488A-8304-0880629FA0C3}"/>
              </a:ext>
            </a:extLst>
          </p:cNvPr>
          <p:cNvSpPr txBox="1"/>
          <p:nvPr/>
        </p:nvSpPr>
        <p:spPr>
          <a:xfrm>
            <a:off x="8619599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40"/>
          <p:cNvSpPr txBox="1">
            <a:spLocks noGrp="1"/>
          </p:cNvSpPr>
          <p:nvPr>
            <p:ph type="ctrTitle" idx="21"/>
          </p:nvPr>
        </p:nvSpPr>
        <p:spPr>
          <a:xfrm>
            <a:off x="720000" y="342524"/>
            <a:ext cx="7704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pic>
        <p:nvPicPr>
          <p:cNvPr id="2142" name="Google Shape;2142;p40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3294245" y="3365497"/>
            <a:ext cx="842174" cy="70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3" name="Google Shape;2143;p40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759925" y="3365497"/>
            <a:ext cx="842174" cy="70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" name="Google Shape;2144;p40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5822947" y="3365497"/>
            <a:ext cx="842174" cy="70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5" name="Google Shape;2145;p40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759925" y="1601697"/>
            <a:ext cx="842174" cy="70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6" name="Google Shape;2146;p40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5822959" y="1601700"/>
            <a:ext cx="842174" cy="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7" name="Google Shape;2147;p40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3294234" y="1601697"/>
            <a:ext cx="842174" cy="708408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40"/>
          <p:cNvSpPr txBox="1">
            <a:spLocks noGrp="1"/>
          </p:cNvSpPr>
          <p:nvPr>
            <p:ph type="title"/>
          </p:nvPr>
        </p:nvSpPr>
        <p:spPr>
          <a:xfrm>
            <a:off x="3170031" y="3417401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49" name="Google Shape;2149;p40"/>
          <p:cNvSpPr txBox="1">
            <a:spLocks noGrp="1"/>
          </p:cNvSpPr>
          <p:nvPr>
            <p:ph type="title" idx="2"/>
          </p:nvPr>
        </p:nvSpPr>
        <p:spPr>
          <a:xfrm>
            <a:off x="5686543" y="3417401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50" name="Google Shape;2150;p40"/>
          <p:cNvSpPr txBox="1">
            <a:spLocks noGrp="1"/>
          </p:cNvSpPr>
          <p:nvPr>
            <p:ph type="title" idx="3"/>
          </p:nvPr>
        </p:nvSpPr>
        <p:spPr>
          <a:xfrm>
            <a:off x="5697526" y="1667000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1" name="Google Shape;2151;p40"/>
          <p:cNvSpPr txBox="1">
            <a:spLocks noGrp="1"/>
          </p:cNvSpPr>
          <p:nvPr>
            <p:ph type="title" idx="4"/>
          </p:nvPr>
        </p:nvSpPr>
        <p:spPr>
          <a:xfrm>
            <a:off x="637282" y="3444201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52" name="Google Shape;2152;p40"/>
          <p:cNvSpPr txBox="1">
            <a:spLocks noGrp="1"/>
          </p:cNvSpPr>
          <p:nvPr>
            <p:ph type="title" idx="5"/>
          </p:nvPr>
        </p:nvSpPr>
        <p:spPr>
          <a:xfrm>
            <a:off x="585853" y="1711922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53" name="Google Shape;2153;p40"/>
          <p:cNvSpPr txBox="1">
            <a:spLocks noGrp="1"/>
          </p:cNvSpPr>
          <p:nvPr>
            <p:ph type="title" idx="6"/>
          </p:nvPr>
        </p:nvSpPr>
        <p:spPr>
          <a:xfrm>
            <a:off x="3170031" y="1667000"/>
            <a:ext cx="1036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54" name="Google Shape;2154;p40"/>
          <p:cNvSpPr txBox="1">
            <a:spLocks noGrp="1"/>
          </p:cNvSpPr>
          <p:nvPr>
            <p:ph type="ctrTitle" idx="7"/>
          </p:nvPr>
        </p:nvSpPr>
        <p:spPr>
          <a:xfrm>
            <a:off x="4189349" y="3416302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 Analysis</a:t>
            </a:r>
            <a:endParaRPr dirty="0"/>
          </a:p>
        </p:txBody>
      </p:sp>
      <p:sp>
        <p:nvSpPr>
          <p:cNvPr id="2156" name="Google Shape;2156;p40"/>
          <p:cNvSpPr txBox="1">
            <a:spLocks noGrp="1"/>
          </p:cNvSpPr>
          <p:nvPr>
            <p:ph type="ctrTitle" idx="8"/>
          </p:nvPr>
        </p:nvSpPr>
        <p:spPr>
          <a:xfrm>
            <a:off x="6734326" y="3459579"/>
            <a:ext cx="1946453" cy="520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work</a:t>
            </a:r>
            <a:endParaRPr dirty="0"/>
          </a:p>
        </p:txBody>
      </p:sp>
      <p:sp>
        <p:nvSpPr>
          <p:cNvPr id="2160" name="Google Shape;2160;p40"/>
          <p:cNvSpPr txBox="1">
            <a:spLocks noGrp="1"/>
          </p:cNvSpPr>
          <p:nvPr>
            <p:ph type="ctrTitle" idx="15"/>
          </p:nvPr>
        </p:nvSpPr>
        <p:spPr>
          <a:xfrm>
            <a:off x="1602099" y="3430802"/>
            <a:ext cx="1841554" cy="512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Model’s performance</a:t>
            </a:r>
            <a:endParaRPr dirty="0"/>
          </a:p>
        </p:txBody>
      </p:sp>
      <p:sp>
        <p:nvSpPr>
          <p:cNvPr id="2162" name="Google Shape;2162;p40"/>
          <p:cNvSpPr txBox="1">
            <a:spLocks noGrp="1"/>
          </p:cNvSpPr>
          <p:nvPr>
            <p:ph type="ctrTitle" idx="17"/>
          </p:nvPr>
        </p:nvSpPr>
        <p:spPr>
          <a:xfrm>
            <a:off x="1638387" y="1775822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164" name="Google Shape;2164;p40"/>
          <p:cNvSpPr txBox="1">
            <a:spLocks noGrp="1"/>
          </p:cNvSpPr>
          <p:nvPr>
            <p:ph type="ctrTitle" idx="19"/>
          </p:nvPr>
        </p:nvSpPr>
        <p:spPr>
          <a:xfrm>
            <a:off x="4076890" y="1750716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Analysis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B09064-7314-4AE2-A9F9-58C11C911066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2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92EA71-205E-4B66-8109-2FED7A5A8318}"/>
              </a:ext>
            </a:extLst>
          </p:cNvPr>
          <p:cNvSpPr>
            <a:spLocks noGrp="1"/>
          </p:cNvSpPr>
          <p:nvPr>
            <p:ph type="ctrTitle" idx="13"/>
          </p:nvPr>
        </p:nvSpPr>
        <p:spPr>
          <a:xfrm>
            <a:off x="6790566" y="1750716"/>
            <a:ext cx="1821000" cy="45000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41"/>
          <p:cNvSpPr txBox="1">
            <a:spLocks noGrp="1"/>
          </p:cNvSpPr>
          <p:nvPr>
            <p:ph type="subTitle" idx="1"/>
          </p:nvPr>
        </p:nvSpPr>
        <p:spPr>
          <a:xfrm>
            <a:off x="443986" y="1226246"/>
            <a:ext cx="6464228" cy="29440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2060"/>
                </a:solidFill>
                <a:effectLst/>
                <a:latin typeface="quote-cjk-patch"/>
              </a:rPr>
              <a:t>Access to clean drinking water remains a critical global </a:t>
            </a:r>
            <a:r>
              <a:rPr lang="en-US" sz="2000" b="0" i="0" dirty="0" err="1">
                <a:solidFill>
                  <a:srgbClr val="002060"/>
                </a:solidFill>
                <a:effectLst/>
                <a:latin typeface="quote-cjk-patch"/>
              </a:rPr>
              <a:t>challenge.Our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quote-cjk-patch"/>
              </a:rPr>
              <a:t> model addresses this by using deep learning to automatically predict water potability from basic quality </a:t>
            </a:r>
            <a:r>
              <a:rPr lang="en-US" sz="2000" b="0" i="0" dirty="0" err="1">
                <a:solidFill>
                  <a:srgbClr val="002060"/>
                </a:solidFill>
                <a:effectLst/>
                <a:latin typeface="quote-cjk-patch"/>
              </a:rPr>
              <a:t>parameters.This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quote-cjk-patch"/>
              </a:rPr>
              <a:t> is a CNN-based deep learning framework for water quality prediction. By analyzing parameters like pH and turbidity, our model achieves high accuracy in classifying water potability, offering an efficient AI-powered solution for environmental monitoring. </a:t>
            </a:r>
          </a:p>
        </p:txBody>
      </p:sp>
      <p:sp>
        <p:nvSpPr>
          <p:cNvPr id="2172" name="Google Shape;2172;p41"/>
          <p:cNvSpPr/>
          <p:nvPr/>
        </p:nvSpPr>
        <p:spPr>
          <a:xfrm>
            <a:off x="4683238" y="-3705512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41"/>
          <p:cNvSpPr txBox="1">
            <a:spLocks noGrp="1"/>
          </p:cNvSpPr>
          <p:nvPr>
            <p:ph type="ctrTitle"/>
          </p:nvPr>
        </p:nvSpPr>
        <p:spPr>
          <a:xfrm>
            <a:off x="554244" y="257674"/>
            <a:ext cx="2604300" cy="5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Introduction</a:t>
            </a:r>
            <a:endParaRPr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C8518-549B-4BCF-AAB9-0487F5227686}"/>
              </a:ext>
            </a:extLst>
          </p:cNvPr>
          <p:cNvSpPr txBox="1"/>
          <p:nvPr/>
        </p:nvSpPr>
        <p:spPr>
          <a:xfrm>
            <a:off x="862608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87;p43">
            <a:extLst>
              <a:ext uri="{FF2B5EF4-FFF2-40B4-BE49-F238E27FC236}">
                <a16:creationId xmlns:a16="http://schemas.microsoft.com/office/drawing/2014/main" id="{9AAAB09E-195C-4A9A-9459-38D54D3B0E06}"/>
              </a:ext>
            </a:extLst>
          </p:cNvPr>
          <p:cNvSpPr txBox="1">
            <a:spLocks/>
          </p:cNvSpPr>
          <p:nvPr/>
        </p:nvSpPr>
        <p:spPr>
          <a:xfrm>
            <a:off x="523269" y="578684"/>
            <a:ext cx="7870182" cy="44591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3000" b="0" i="0" u="none" strike="noStrike" cap="none">
                <a:solidFill>
                  <a:srgbClr val="1C4587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rgbClr val="3C78D8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pPr algn="l"/>
            <a:endParaRPr lang="en-US" sz="1800" i="1" u="sng" dirty="0"/>
          </a:p>
          <a:p>
            <a:pPr algn="l"/>
            <a:endParaRPr lang="en-US" sz="1800" i="1" u="sng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i="1" dirty="0"/>
              <a:t>3,276 Water Sample records</a:t>
            </a:r>
          </a:p>
          <a:p>
            <a:pPr algn="l"/>
            <a:r>
              <a:rPr lang="en-US" sz="1800" i="1" dirty="0"/>
              <a:t>  </a:t>
            </a:r>
          </a:p>
          <a:p>
            <a:pPr algn="l"/>
            <a:r>
              <a:rPr lang="en-US" sz="1800" i="1" u="sng" dirty="0"/>
              <a:t>Features: </a:t>
            </a:r>
            <a:r>
              <a:rPr lang="en-US" sz="1800" dirty="0"/>
              <a:t>9</a:t>
            </a:r>
            <a:endParaRPr lang="en-US" sz="1800" i="1" u="sng" dirty="0"/>
          </a:p>
          <a:p>
            <a:pPr algn="l"/>
            <a:endParaRPr lang="en-US" sz="1800" i="1" u="sng" dirty="0"/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PH  :  </a:t>
            </a:r>
            <a:r>
              <a:rPr lang="en-US" sz="1800" i="1" dirty="0">
                <a:solidFill>
                  <a:srgbClr val="002060"/>
                </a:solidFill>
              </a:rPr>
              <a:t>acidity or alkalinity of water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Hardness :   </a:t>
            </a:r>
            <a:r>
              <a:rPr lang="en-US" sz="1800" i="1" dirty="0">
                <a:solidFill>
                  <a:srgbClr val="002060"/>
                </a:solidFill>
              </a:rPr>
              <a:t>calcium and magnesium content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Solids (TDS)  : </a:t>
            </a:r>
            <a:r>
              <a:rPr lang="en-US" sz="1800" i="1" dirty="0">
                <a:solidFill>
                  <a:srgbClr val="002060"/>
                </a:solidFill>
              </a:rPr>
              <a:t>dissolved solids present water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Chloramines :   </a:t>
            </a:r>
            <a:r>
              <a:rPr lang="en-US" sz="1800" i="1" dirty="0">
                <a:solidFill>
                  <a:srgbClr val="002060"/>
                </a:solidFill>
              </a:rPr>
              <a:t>Disinfectant level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Sulfate  :    </a:t>
            </a:r>
            <a:r>
              <a:rPr lang="en-US" sz="1800" i="1" dirty="0">
                <a:solidFill>
                  <a:srgbClr val="002060"/>
                </a:solidFill>
              </a:rPr>
              <a:t>Concentration of sulfate compounds</a:t>
            </a:r>
            <a:endParaRPr lang="en-US" sz="1800" i="1" dirty="0">
              <a:solidFill>
                <a:srgbClr val="00B0F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Conductivity  :    </a:t>
            </a:r>
            <a:r>
              <a:rPr lang="en-US" sz="1800" i="1" dirty="0">
                <a:solidFill>
                  <a:srgbClr val="002060"/>
                </a:solidFill>
              </a:rPr>
              <a:t>Ability conduct electricity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Organic Carbon  :  </a:t>
            </a:r>
            <a:r>
              <a:rPr lang="en-US" sz="1800" i="1" dirty="0">
                <a:solidFill>
                  <a:srgbClr val="002060"/>
                </a:solidFill>
              </a:rPr>
              <a:t>Amount of organic compounds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Trihalomethane  :   </a:t>
            </a:r>
            <a:r>
              <a:rPr lang="en-US" sz="1800" i="1" dirty="0">
                <a:solidFill>
                  <a:srgbClr val="002060"/>
                </a:solidFill>
              </a:rPr>
              <a:t>By-products formed during chlorination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Turbidity  :   </a:t>
            </a:r>
            <a:r>
              <a:rPr lang="en-US" sz="1800" i="1" dirty="0">
                <a:solidFill>
                  <a:srgbClr val="002060"/>
                </a:solidFill>
              </a:rPr>
              <a:t>water clarity and suspended particles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B0F0"/>
                </a:solidFill>
              </a:rPr>
              <a:t>Potability</a:t>
            </a:r>
            <a:r>
              <a:rPr lang="en-US" sz="1800" i="1" dirty="0"/>
              <a:t>      </a:t>
            </a:r>
            <a:r>
              <a:rPr lang="en-US" sz="1800" i="1" dirty="0">
                <a:solidFill>
                  <a:srgbClr val="002060"/>
                </a:solidFill>
              </a:rPr>
              <a:t>Target Level          0  (potable ; Safe)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i="1" dirty="0">
                <a:solidFill>
                  <a:srgbClr val="002060"/>
                </a:solidFill>
              </a:rPr>
              <a:t>                                                         1  (non-potable ; unsafe)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6" name="Google Shape;2186;p43">
            <a:extLst>
              <a:ext uri="{FF2B5EF4-FFF2-40B4-BE49-F238E27FC236}">
                <a16:creationId xmlns:a16="http://schemas.microsoft.com/office/drawing/2014/main" id="{011E9DFF-54DE-44C0-817A-3A520F31C7BC}"/>
              </a:ext>
            </a:extLst>
          </p:cNvPr>
          <p:cNvSpPr txBox="1">
            <a:spLocks/>
          </p:cNvSpPr>
          <p:nvPr/>
        </p:nvSpPr>
        <p:spPr>
          <a:xfrm>
            <a:off x="2769628" y="-126853"/>
            <a:ext cx="3271755" cy="750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u="sng" dirty="0" err="1">
                <a:solidFill>
                  <a:schemeClr val="bg2">
                    <a:lumMod val="75000"/>
                  </a:schemeClr>
                </a:solidFill>
              </a:rPr>
              <a:t>DataSet</a:t>
            </a:r>
            <a:endParaRPr lang="en-US" sz="3200" b="1" u="sng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2548C8C-5D5C-4009-8F97-B76A4E0BD38D}"/>
              </a:ext>
            </a:extLst>
          </p:cNvPr>
          <p:cNvSpPr/>
          <p:nvPr/>
        </p:nvSpPr>
        <p:spPr>
          <a:xfrm>
            <a:off x="1976795" y="4474087"/>
            <a:ext cx="16913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0B5CFB-2C48-417A-955F-1C1625AF18F5}"/>
              </a:ext>
            </a:extLst>
          </p:cNvPr>
          <p:cNvCxnSpPr/>
          <p:nvPr/>
        </p:nvCxnSpPr>
        <p:spPr>
          <a:xfrm>
            <a:off x="3636458" y="4474087"/>
            <a:ext cx="4175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68803E-06F1-41C5-8791-73EB331CF747}"/>
              </a:ext>
            </a:extLst>
          </p:cNvPr>
          <p:cNvCxnSpPr/>
          <p:nvPr/>
        </p:nvCxnSpPr>
        <p:spPr>
          <a:xfrm>
            <a:off x="3636458" y="4519806"/>
            <a:ext cx="417558" cy="231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4DD9CF-3F5C-425A-8001-D4E64FA5EDB5}"/>
              </a:ext>
            </a:extLst>
          </p:cNvPr>
          <p:cNvSpPr txBox="1"/>
          <p:nvPr/>
        </p:nvSpPr>
        <p:spPr>
          <a:xfrm>
            <a:off x="8684451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62"/>
          <p:cNvSpPr txBox="1">
            <a:spLocks noGrp="1"/>
          </p:cNvSpPr>
          <p:nvPr>
            <p:ph type="title"/>
          </p:nvPr>
        </p:nvSpPr>
        <p:spPr>
          <a:xfrm>
            <a:off x="1978244" y="0"/>
            <a:ext cx="5025671" cy="3855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Analysis of Water quality parameters</a:t>
            </a:r>
            <a:endParaRPr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40832-3019-474C-B349-A2288974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09" y="601088"/>
            <a:ext cx="4640757" cy="4102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2B6FF1-983C-4A32-AAF5-93DDD300CFDD}"/>
              </a:ext>
            </a:extLst>
          </p:cNvPr>
          <p:cNvSpPr txBox="1"/>
          <p:nvPr/>
        </p:nvSpPr>
        <p:spPr>
          <a:xfrm>
            <a:off x="1044103" y="4793165"/>
            <a:ext cx="400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Correlation Matrix of Water Quality Features</a:t>
            </a:r>
            <a:endParaRPr lang="en-US" dirty="0">
              <a:solidFill>
                <a:srgbClr val="002060"/>
              </a:solidFill>
              <a:latin typeface="Overpass Black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889193-BDEE-4E00-AC18-AB1032CFD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222" y="727786"/>
            <a:ext cx="3910195" cy="38490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147B61-C1D8-4543-9807-C1566C994388}"/>
              </a:ext>
            </a:extLst>
          </p:cNvPr>
          <p:cNvSpPr txBox="1"/>
          <p:nvPr/>
        </p:nvSpPr>
        <p:spPr>
          <a:xfrm>
            <a:off x="5152417" y="4793164"/>
            <a:ext cx="3702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Class Distribution of Water Potability</a:t>
            </a:r>
            <a:endParaRPr lang="en-US" dirty="0">
              <a:solidFill>
                <a:srgbClr val="002060"/>
              </a:solidFill>
              <a:latin typeface="Overpass Black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44B0B-11DC-4082-A53A-DCE54291661B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46"/>
          <p:cNvSpPr txBox="1">
            <a:spLocks noGrp="1"/>
          </p:cNvSpPr>
          <p:nvPr>
            <p:ph type="title"/>
          </p:nvPr>
        </p:nvSpPr>
        <p:spPr>
          <a:xfrm>
            <a:off x="2447209" y="195566"/>
            <a:ext cx="3354916" cy="459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/>
              <a:t>Methodology</a:t>
            </a:r>
            <a:endParaRPr sz="24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FDCED-4743-47F7-BF8A-45C241FB332E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94B74-E728-4ADD-A615-0EFDD448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28" y="655408"/>
            <a:ext cx="7410340" cy="4377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904E631-71B9-4F25-A8BE-233FAAC06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788" y="0"/>
            <a:ext cx="4048205" cy="544412"/>
          </a:xfrm>
        </p:spPr>
        <p:txBody>
          <a:bodyPr/>
          <a:lstStyle/>
          <a:p>
            <a:r>
              <a:rPr lang="en-US" u="sng" dirty="0"/>
              <a:t>Model’s performance 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5CDB0416-4AB9-4823-A8F6-1D7F07DC6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31128"/>
              </p:ext>
            </p:extLst>
          </p:nvPr>
        </p:nvGraphicFramePr>
        <p:xfrm>
          <a:off x="542152" y="680120"/>
          <a:ext cx="7081735" cy="16916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693601">
                  <a:extLst>
                    <a:ext uri="{9D8B030D-6E8A-4147-A177-3AD203B41FA5}">
                      <a16:colId xmlns:a16="http://schemas.microsoft.com/office/drawing/2014/main" val="307291050"/>
                    </a:ext>
                  </a:extLst>
                </a:gridCol>
                <a:gridCol w="1464549">
                  <a:extLst>
                    <a:ext uri="{9D8B030D-6E8A-4147-A177-3AD203B41FA5}">
                      <a16:colId xmlns:a16="http://schemas.microsoft.com/office/drawing/2014/main" val="937345209"/>
                    </a:ext>
                  </a:extLst>
                </a:gridCol>
                <a:gridCol w="1452759">
                  <a:extLst>
                    <a:ext uri="{9D8B030D-6E8A-4147-A177-3AD203B41FA5}">
                      <a16:colId xmlns:a16="http://schemas.microsoft.com/office/drawing/2014/main" val="3543063932"/>
                    </a:ext>
                  </a:extLst>
                </a:gridCol>
                <a:gridCol w="1281309">
                  <a:extLst>
                    <a:ext uri="{9D8B030D-6E8A-4147-A177-3AD203B41FA5}">
                      <a16:colId xmlns:a16="http://schemas.microsoft.com/office/drawing/2014/main" val="1584151895"/>
                    </a:ext>
                  </a:extLst>
                </a:gridCol>
                <a:gridCol w="1189517">
                  <a:extLst>
                    <a:ext uri="{9D8B030D-6E8A-4147-A177-3AD203B41FA5}">
                      <a16:colId xmlns:a16="http://schemas.microsoft.com/office/drawing/2014/main" val="1465173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82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CNN 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66.14%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0.6983</a:t>
                      </a:r>
                      <a:endParaRPr lang="en-US" sz="16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0.5652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0.6248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56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Random Forest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66.97%</a:t>
                      </a:r>
                      <a:endParaRPr lang="en-US" sz="16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0.685 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0.6254 </a:t>
                      </a:r>
                      <a:endParaRPr lang="en-US" sz="16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0.6538</a:t>
                      </a:r>
                      <a:endParaRPr lang="en-US" sz="16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45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Logistic Regression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50.79%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0.4849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0.4957</a:t>
                      </a:r>
                      <a:endParaRPr lang="en-US" sz="16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509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88CF485-8629-40FA-9ADA-EAB60C0751DD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8ACDF-BEC6-416E-94C1-F4BCBD48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511" y="2507469"/>
            <a:ext cx="4397577" cy="25232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48"/>
          <p:cNvSpPr txBox="1">
            <a:spLocks noGrp="1"/>
          </p:cNvSpPr>
          <p:nvPr>
            <p:ph type="ctrTitle" idx="9"/>
          </p:nvPr>
        </p:nvSpPr>
        <p:spPr>
          <a:xfrm>
            <a:off x="657606" y="122344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 Analysis</a:t>
            </a:r>
            <a:endParaRPr dirty="0"/>
          </a:p>
        </p:txBody>
      </p:sp>
      <p:pic>
        <p:nvPicPr>
          <p:cNvPr id="2288" name="Google Shape;2288;p48"/>
          <p:cNvPicPr preferRelativeResize="0"/>
          <p:nvPr/>
        </p:nvPicPr>
        <p:blipFill>
          <a:blip r:embed="rId3">
            <a:alphaModFix amt="77000"/>
          </a:blip>
          <a:stretch>
            <a:fillRect/>
          </a:stretch>
        </p:blipFill>
        <p:spPr>
          <a:xfrm flipH="1">
            <a:off x="225985" y="878041"/>
            <a:ext cx="2467483" cy="114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8" name="Google Shape;2318;p48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 flipH="1">
            <a:off x="3158798" y="866763"/>
            <a:ext cx="2467483" cy="114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48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 flipH="1">
            <a:off x="5956749" y="814834"/>
            <a:ext cx="2467483" cy="114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320" name="Google Shape;2320;p48"/>
          <p:cNvSpPr txBox="1">
            <a:spLocks noGrp="1"/>
          </p:cNvSpPr>
          <p:nvPr>
            <p:ph type="subTitle" idx="1"/>
          </p:nvPr>
        </p:nvSpPr>
        <p:spPr>
          <a:xfrm>
            <a:off x="225985" y="2081718"/>
            <a:ext cx="2604040" cy="24578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moderate accuracy  but lower Recall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Decent Performance despite Recall Limitation</a:t>
            </a:r>
          </a:p>
        </p:txBody>
      </p:sp>
      <p:sp>
        <p:nvSpPr>
          <p:cNvPr id="2322" name="Google Shape;2322;p48"/>
          <p:cNvSpPr txBox="1">
            <a:spLocks noGrp="1"/>
          </p:cNvSpPr>
          <p:nvPr>
            <p:ph type="subTitle" idx="3"/>
          </p:nvPr>
        </p:nvSpPr>
        <p:spPr>
          <a:xfrm>
            <a:off x="2856284" y="2206578"/>
            <a:ext cx="2690767" cy="23915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Consistence among metrices(Strong Recall,highest Accuracy,good F1-score)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dirty="0"/>
              <a:t>Robustness for classfication task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2324" name="Google Shape;2324;p48"/>
          <p:cNvSpPr txBox="1">
            <a:spLocks noGrp="1"/>
          </p:cNvSpPr>
          <p:nvPr>
            <p:ph type="subTitle" idx="5"/>
          </p:nvPr>
        </p:nvSpPr>
        <p:spPr>
          <a:xfrm>
            <a:off x="5716380" y="2313030"/>
            <a:ext cx="2604039" cy="28810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Poor performance(lowest accuracy, poor score in all metrices)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Insufficient For capturing Complex water Patterns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326" name="Google Shape;2326;p48"/>
          <p:cNvSpPr txBox="1">
            <a:spLocks noGrp="1"/>
          </p:cNvSpPr>
          <p:nvPr>
            <p:ph type="title"/>
          </p:nvPr>
        </p:nvSpPr>
        <p:spPr>
          <a:xfrm>
            <a:off x="3238030" y="1167952"/>
            <a:ext cx="2309021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Random forest</a:t>
            </a:r>
            <a:endParaRPr dirty="0"/>
          </a:p>
        </p:txBody>
      </p:sp>
      <p:sp>
        <p:nvSpPr>
          <p:cNvPr id="2327" name="Google Shape;2327;p48"/>
          <p:cNvSpPr txBox="1">
            <a:spLocks noGrp="1"/>
          </p:cNvSpPr>
          <p:nvPr>
            <p:ph type="title" idx="7"/>
          </p:nvPr>
        </p:nvSpPr>
        <p:spPr>
          <a:xfrm>
            <a:off x="6087500" y="1167952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Logistic regression</a:t>
            </a:r>
            <a:endParaRPr dirty="0"/>
          </a:p>
        </p:txBody>
      </p:sp>
      <p:sp>
        <p:nvSpPr>
          <p:cNvPr id="2328" name="Google Shape;2328;p48"/>
          <p:cNvSpPr txBox="1">
            <a:spLocks noGrp="1"/>
          </p:cNvSpPr>
          <p:nvPr>
            <p:ph type="title" idx="8"/>
          </p:nvPr>
        </p:nvSpPr>
        <p:spPr>
          <a:xfrm>
            <a:off x="528827" y="1254414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</a:t>
            </a:r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9C0E5F-FBD7-4B30-8C9F-797EABD5D285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9"/>
          <p:cNvSpPr/>
          <p:nvPr/>
        </p:nvSpPr>
        <p:spPr>
          <a:xfrm>
            <a:off x="5378040" y="1422639"/>
            <a:ext cx="3517200" cy="529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Add time analysis to track how water quality changes</a:t>
            </a:r>
            <a:endParaRPr sz="1600" i="0" u="none" strike="noStrike" cap="none" dirty="0">
              <a:solidFill>
                <a:schemeClr val="dk2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2335" name="Google Shape;2335;p49"/>
          <p:cNvSpPr/>
          <p:nvPr/>
        </p:nvSpPr>
        <p:spPr>
          <a:xfrm>
            <a:off x="5379771" y="2271099"/>
            <a:ext cx="3517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Include weather and location data for better predictions:</a:t>
            </a:r>
            <a:endParaRPr sz="1600" i="0" u="none" strike="noStrike" cap="none" dirty="0">
              <a:solidFill>
                <a:schemeClr val="dk2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2337" name="Google Shape;2337;p49"/>
          <p:cNvSpPr/>
          <p:nvPr/>
        </p:nvSpPr>
        <p:spPr>
          <a:xfrm>
            <a:off x="5379771" y="3053637"/>
            <a:ext cx="3517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Add more water quality factors (Lead, Bacteria </a:t>
            </a:r>
            <a:r>
              <a:rPr lang="en-US" sz="1600" i="0" u="none" strike="noStrike" cap="none" dirty="0" err="1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etc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)</a:t>
            </a:r>
            <a:endParaRPr sz="1600" i="0" u="none" strike="noStrike" cap="none" dirty="0">
              <a:solidFill>
                <a:schemeClr val="dk2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pic>
        <p:nvPicPr>
          <p:cNvPr id="2341" name="Google Shape;234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93575">
            <a:off x="784193" y="1193574"/>
            <a:ext cx="2589654" cy="987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158518">
            <a:off x="1603558" y="3310355"/>
            <a:ext cx="860627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3" name="Google Shape;2343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946960">
            <a:off x="1607983" y="1454729"/>
            <a:ext cx="837788" cy="2054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6050340" flipH="1">
            <a:off x="1764940" y="2435164"/>
            <a:ext cx="608445" cy="1503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49"/>
          <p:cNvSpPr txBox="1"/>
          <p:nvPr/>
        </p:nvSpPr>
        <p:spPr>
          <a:xfrm>
            <a:off x="4362561" y="1306003"/>
            <a:ext cx="1061100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5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01</a:t>
            </a:r>
            <a:endParaRPr sz="30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49"/>
          <p:cNvSpPr txBox="1"/>
          <p:nvPr/>
        </p:nvSpPr>
        <p:spPr>
          <a:xfrm>
            <a:off x="4362561" y="2115978"/>
            <a:ext cx="1061100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6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02</a:t>
            </a:r>
            <a:endParaRPr sz="30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49"/>
          <p:cNvSpPr txBox="1"/>
          <p:nvPr/>
        </p:nvSpPr>
        <p:spPr>
          <a:xfrm>
            <a:off x="4413341" y="2915805"/>
            <a:ext cx="1061100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4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03</a:t>
            </a:r>
            <a:endParaRPr sz="3000" b="0" i="0" u="none" strike="noStrike" cap="none" dirty="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49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295338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Conclusion:</a:t>
            </a:r>
            <a:endParaRPr dirty="0"/>
          </a:p>
        </p:txBody>
      </p:sp>
      <p:sp>
        <p:nvSpPr>
          <p:cNvPr id="27" name="Google Shape;2353;p49">
            <a:extLst>
              <a:ext uri="{FF2B5EF4-FFF2-40B4-BE49-F238E27FC236}">
                <a16:creationId xmlns:a16="http://schemas.microsoft.com/office/drawing/2014/main" id="{064BCF06-957D-4F76-9490-322D3AE1005C}"/>
              </a:ext>
            </a:extLst>
          </p:cNvPr>
          <p:cNvSpPr txBox="1">
            <a:spLocks/>
          </p:cNvSpPr>
          <p:nvPr/>
        </p:nvSpPr>
        <p:spPr>
          <a:xfrm>
            <a:off x="4448423" y="373025"/>
            <a:ext cx="295338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30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r>
              <a:rPr lang="en-US" dirty="0"/>
              <a:t>Future Work: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A34CC-274A-45FE-A656-1EDF82D5B384}"/>
              </a:ext>
            </a:extLst>
          </p:cNvPr>
          <p:cNvSpPr txBox="1"/>
          <p:nvPr/>
        </p:nvSpPr>
        <p:spPr>
          <a:xfrm>
            <a:off x="139332" y="1293358"/>
            <a:ext cx="4111558" cy="3381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We </a:t>
            </a:r>
            <a:r>
              <a:rPr lang="en-US" sz="1800" b="0" i="0">
                <a:solidFill>
                  <a:srgbClr val="002060"/>
                </a:solidFill>
                <a:effectLst/>
                <a:latin typeface="Overpass Black" panose="020B0604020202020204" charset="0"/>
              </a:rPr>
              <a:t>successfully developed 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an AI model that can effectively predict water </a:t>
            </a:r>
            <a:r>
              <a:rPr lang="en-US" sz="1800" b="0" i="0" dirty="0" err="1">
                <a:solidFill>
                  <a:srgbClr val="002060"/>
                </a:solidFill>
                <a:effectLst/>
                <a:latin typeface="Overpass Black" panose="020B0604020202020204" charset="0"/>
              </a:rPr>
              <a:t>potability.The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 </a:t>
            </a:r>
            <a:r>
              <a:rPr lang="en-US" sz="1800" b="1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Random Forest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 model proved to be the most balanced and reliable for this task. This project demonstrates that </a:t>
            </a:r>
            <a:r>
              <a:rPr lang="en-US" sz="1800" b="1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AI can be a powerful tool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Overpass Black" panose="020B0604020202020204" charset="0"/>
              </a:rPr>
              <a:t> for automated water quality monitoring.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49B30A-99C9-408B-AC6E-4EAA01383379}"/>
              </a:ext>
            </a:extLst>
          </p:cNvPr>
          <p:cNvSpPr txBox="1"/>
          <p:nvPr/>
        </p:nvSpPr>
        <p:spPr>
          <a:xfrm>
            <a:off x="8613114" y="129701"/>
            <a:ext cx="40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64"/>
          <p:cNvSpPr txBox="1">
            <a:spLocks noGrp="1"/>
          </p:cNvSpPr>
          <p:nvPr>
            <p:ph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13CC-D981-4757-81F5-E6877BA3036B}"/>
              </a:ext>
            </a:extLst>
          </p:cNvPr>
          <p:cNvSpPr txBox="1"/>
          <p:nvPr/>
        </p:nvSpPr>
        <p:spPr>
          <a:xfrm>
            <a:off x="8450094" y="129701"/>
            <a:ext cx="570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ua Marketing Plan by Slidego">
  <a:themeElements>
    <a:clrScheme name="Simple Light">
      <a:dk1>
        <a:srgbClr val="434343"/>
      </a:dk1>
      <a:lt1>
        <a:srgbClr val="FFFFFF"/>
      </a:lt1>
      <a:dk2>
        <a:srgbClr val="073763"/>
      </a:dk2>
      <a:lt2>
        <a:srgbClr val="3D85C6"/>
      </a:lt2>
      <a:accent1>
        <a:srgbClr val="3D85C6"/>
      </a:accent1>
      <a:accent2>
        <a:srgbClr val="B6D7A8"/>
      </a:accent2>
      <a:accent3>
        <a:srgbClr val="9FC5E8"/>
      </a:accent3>
      <a:accent4>
        <a:srgbClr val="9EDCD9"/>
      </a:accent4>
      <a:accent5>
        <a:srgbClr val="93C47D"/>
      </a:accent5>
      <a:accent6>
        <a:srgbClr val="6FA8DC"/>
      </a:accent6>
      <a:hlink>
        <a:srgbClr val="07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408</Words>
  <Application>Microsoft Office PowerPoint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Cambria</vt:lpstr>
      <vt:lpstr>Wingdings</vt:lpstr>
      <vt:lpstr>quote-cjk-patch</vt:lpstr>
      <vt:lpstr>Overpass Black</vt:lpstr>
      <vt:lpstr>Arial</vt:lpstr>
      <vt:lpstr>Open Sans</vt:lpstr>
      <vt:lpstr>Fira Sans Extra Condensed Medium</vt:lpstr>
      <vt:lpstr>Aqua Marketing Plan by Slidego</vt:lpstr>
      <vt:lpstr>Project Title : Water Quality Prediction using Machine Learning and Deep Learning Approaches </vt:lpstr>
      <vt:lpstr>Table of Contents</vt:lpstr>
      <vt:lpstr>Introduction</vt:lpstr>
      <vt:lpstr>PowerPoint Presentation</vt:lpstr>
      <vt:lpstr>Analysis of Water quality parameters</vt:lpstr>
      <vt:lpstr>Methodology</vt:lpstr>
      <vt:lpstr>Model’s performance </vt:lpstr>
      <vt:lpstr>Result Analysis</vt:lpstr>
      <vt:lpstr>Conclusion: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: AquaNet:Deep Learning for Water Quality IndexPrediction</dc:title>
  <dc:creator>meherin khan mili</dc:creator>
  <cp:lastModifiedBy>meherin khan mili</cp:lastModifiedBy>
  <cp:revision>18</cp:revision>
  <dcterms:modified xsi:type="dcterms:W3CDTF">2025-09-24T19:34:15Z</dcterms:modified>
</cp:coreProperties>
</file>